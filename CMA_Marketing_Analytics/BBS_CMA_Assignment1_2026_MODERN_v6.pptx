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AIC</c:v>
                </c:pt>
              </c:strCache>
            </c:strRef>
          </c:tx>
          <c:spPr>
            <a:solidFill>
              <a:srgbClr val="FF7B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B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B9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Poisson
(Invalid)</c:v>
                  </c:pt>
                  <c:pt idx="1">
                    <c:v>Negative Binomial
(Correct)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10601</c:v>
                </c:pt>
                <c:pt idx="1">
                  <c:v>5634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760000">
            <a:off x="-1371600" y="4023360"/>
            <a:ext cx="12801600" cy="5029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65176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51760" y="0"/>
            <a:ext cx="91440" cy="514350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329184"/>
            <a:ext cx="2048256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1060704"/>
            <a:ext cx="2048256" cy="36576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" y="1170432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9A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Marketing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9A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4592" y="18836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Assignment 1  · 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6304" y="4169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Bologna Business School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Bologna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907792" y="73152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#RealResults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2907792" y="1956816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79A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Analysis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2907792" y="2798064"/>
            <a:ext cx="530352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7792" y="292608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Social Media Campaign  ·  600 Posts  ·  5 Research Questions  ·  3 Regression Models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907792" y="4206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4206240"/>
            <a:ext cx="347472" cy="34747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4206240"/>
            <a:ext cx="347472" cy="347472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206240"/>
            <a:ext cx="347472" cy="347472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420624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37160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Research Questions — Study Overview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914400"/>
            <a:ext cx="36576" cy="400507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15568"/>
            <a:ext cx="402336" cy="40233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" y="950976"/>
            <a:ext cx="7936992" cy="731520"/>
          </a:xfrm>
          <a:prstGeom prst="rect">
            <a:avLst/>
          </a:prstGeom>
          <a:solidFill>
            <a:srgbClr val="161B22"/>
          </a:solidFill>
          <a:ln w="1524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950976"/>
            <a:ext cx="146304" cy="7315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1005840"/>
            <a:ext cx="2194560" cy="237744"/>
          </a:xfrm>
          <a:prstGeom prst="rect">
            <a:avLst/>
          </a:prstGeom>
          <a:solidFill>
            <a:srgbClr val="21262D"/>
          </a:solidFill>
          <a:ln w="1016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1005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9584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Setup &amp; Dummy Coding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43584" y="12984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(3 levels) → Cat_Fashion &amp; Cat_Tech binary dummies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= reference category  ·  Avoids dummy variable trap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1938528"/>
            <a:ext cx="402336" cy="40233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24128" y="1773936"/>
            <a:ext cx="7936992" cy="73152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1773936"/>
            <a:ext cx="146304" cy="7315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1828800"/>
            <a:ext cx="2194560" cy="237744"/>
          </a:xfrm>
          <a:prstGeom prst="rect">
            <a:avLst/>
          </a:prstGeom>
          <a:solidFill>
            <a:srgbClr val="21262D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3584" y="18288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Linear Regression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29584" y="1810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Engagement Rate?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21214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DV: Engagement_Rate (continuous)  ·  7 predictors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β coefficients, R²=0.585, F-test p&lt;0.001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" y="2761488"/>
            <a:ext cx="402336" cy="40233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24128" y="2596896"/>
            <a:ext cx="7936992" cy="73152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2596896"/>
            <a:ext cx="146304" cy="7315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43584" y="2651760"/>
            <a:ext cx="2194560" cy="237744"/>
          </a:xfrm>
          <a:prstGeom prst="rect">
            <a:avLst/>
          </a:prstGeom>
          <a:solidFill>
            <a:srgbClr val="21262D"/>
          </a:solidFill>
          <a:ln w="10160">
            <a:solidFill>
              <a:srgbClr val="F088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26517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Regression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29584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Click-Through?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43584" y="29443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DV: Click_Through (binary 0/1)  ·  4 predictors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Exp(B) Odds Ratios, McFadden R²=0.054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" y="3584448"/>
            <a:ext cx="402336" cy="40233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4128" y="3419856"/>
            <a:ext cx="7936992" cy="73152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" y="3419856"/>
            <a:ext cx="146304" cy="7315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43584" y="3474720"/>
            <a:ext cx="2194560" cy="237744"/>
          </a:xfrm>
          <a:prstGeom prst="rect">
            <a:avLst/>
          </a:prstGeom>
          <a:solidFill>
            <a:srgbClr val="21262D"/>
          </a:solidFill>
          <a:ln w="1016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43584" y="3474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Regression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29584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Comment Count?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43584" y="37673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DV: Comment_Count (overdispersed count)  ·  7 predictors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beats Poisson by 4,967 AIC points (Var/Mean=41.4×)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" y="4407408"/>
            <a:ext cx="402336" cy="40233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024128" y="4242816"/>
            <a:ext cx="7936992" cy="731520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4128" y="4242816"/>
            <a:ext cx="146304" cy="7315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43584" y="4297680"/>
            <a:ext cx="2194560" cy="237744"/>
          </a:xfrm>
          <a:prstGeom prst="rect">
            <a:avLst/>
          </a:prstGeom>
          <a:solidFill>
            <a:srgbClr val="21262D"/>
          </a:solidFill>
          <a:ln w="10160">
            <a:solidFill>
              <a:srgbClr val="BC8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43584" y="4297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+ Interaction Terms + F-test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529584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interaction effects exist?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243584" y="45902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Topic_CTA × Platform &amp; Topic_CTA × Influencer_Tier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F-test: p=0.663 → interactions NOT significant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#RealResults Influencer Campaign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4572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2000" dirty="0"/>
          </a:p>
        </p:txBody>
      </p:sp>
      <p:sp>
        <p:nvSpPr>
          <p:cNvPr id="9" name="Shape 7"/>
          <p:cNvSpPr/>
          <p:nvPr/>
        </p:nvSpPr>
        <p:spPr>
          <a:xfrm>
            <a:off x="201168" y="877824"/>
            <a:ext cx="2011680" cy="1078992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877824"/>
            <a:ext cx="20116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950976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01168" y="1633118"/>
            <a:ext cx="2011680" cy="29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50008" y="877824"/>
            <a:ext cx="2011680" cy="1078992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50008" y="877824"/>
            <a:ext cx="201168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950976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350008" y="1633118"/>
            <a:ext cx="2011680" cy="29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Engagement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98848" y="877824"/>
            <a:ext cx="2011680" cy="1078992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98848" y="877824"/>
            <a:ext cx="20116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950976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498848" y="1633118"/>
            <a:ext cx="2011680" cy="29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47688" y="877824"/>
            <a:ext cx="2011680" cy="1078992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47688" y="877824"/>
            <a:ext cx="201168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950976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647688" y="1633118"/>
            <a:ext cx="2011680" cy="29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Comments/Post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" y="2103120"/>
            <a:ext cx="8741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Overview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1168" y="2450592"/>
            <a:ext cx="8741664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E86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2450592"/>
            <a:ext cx="146304" cy="65836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505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" y="2779776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Engagement_Rate (continuous)   ·   Click_Through (binary 0/1)   ·   Comment_Count (count, overdispersed)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3200400"/>
            <a:ext cx="8741664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3200400"/>
            <a:ext cx="146304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255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Variables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0624" y="3529584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·  Post_Type  ·  Influencer_Tier  ·  Caption_Sentiment  ·  Topic_CTA_Positive  ·  Topic_Lifestyle+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01168" y="3950208"/>
            <a:ext cx="8741664" cy="658368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" y="3950208"/>
            <a:ext cx="146304" cy="6583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Variables (Q0)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0624" y="427939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→ Cat_Fashion (Fashion=1)  ·  Cat_Tech (Tech=1)  ·  Beauty = reference (both=0)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Variable Coding — Product Category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2194560" cy="566928"/>
          </a:xfrm>
          <a:prstGeom prst="rect">
            <a:avLst/>
          </a:prstGeom>
          <a:solidFill>
            <a:srgbClr val="21262D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8755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365760" cy="182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554480"/>
            <a:ext cx="18288" cy="4754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029968"/>
            <a:ext cx="1097280" cy="182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2928" y="1810512"/>
            <a:ext cx="1645920" cy="420624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2928" y="1810512"/>
            <a:ext cx="42062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8416" y="18105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743200"/>
            <a:ext cx="365760" cy="182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1554480"/>
            <a:ext cx="18288" cy="1207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761488"/>
            <a:ext cx="1097280" cy="182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52928" y="2542032"/>
            <a:ext cx="1645920" cy="420624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2928" y="2542032"/>
            <a:ext cx="42062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28416" y="254203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3474720"/>
            <a:ext cx="365760" cy="182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1554480"/>
            <a:ext cx="18288" cy="193852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493008"/>
            <a:ext cx="1097280" cy="182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52928" y="3273552"/>
            <a:ext cx="1645920" cy="420624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52928" y="3273552"/>
            <a:ext cx="42062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52928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28416" y="327355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73152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8900000">
            <a:off x="5138928" y="2377440"/>
            <a:ext cx="91440" cy="310896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223113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0" y="1664208"/>
            <a:ext cx="1627632" cy="4023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66420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Cat_Fashion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0" y="2121408"/>
            <a:ext cx="16276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12140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486400" y="2633472"/>
            <a:ext cx="1627632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63347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486400" y="3145536"/>
            <a:ext cx="1627632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314553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260336" y="1664208"/>
            <a:ext cx="1627632" cy="40233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0336" y="166420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Cat_Tech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60336" y="2121408"/>
            <a:ext cx="16276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2121408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260336" y="2633472"/>
            <a:ext cx="1627632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0336" y="263347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7260336" y="3145536"/>
            <a:ext cx="1627632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0336" y="3145536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431536" y="131673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Binary Dummies (k−1 rule)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942832" y="2121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(ref)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942832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42832" y="3145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01168" y="4005072"/>
            <a:ext cx="8741664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4005072"/>
            <a:ext cx="146304" cy="80467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4005072"/>
            <a:ext cx="84490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k−1 dummies?  Adding all 3 categories would create perfect multicollinearity (dummy variable trap).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Cat_Fashion=0 AND Cat_Tech=0 → the post is Beauty. Beauty is implicitly the reference group.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01168" y="4901184"/>
            <a:ext cx="8741664" cy="292608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4901184"/>
            <a:ext cx="857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df['Cat_Fashion'] = (df['Product_Category']==1).astype(int)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Why OLS Linear Regression?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01168" y="914400"/>
            <a:ext cx="466344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097280"/>
            <a:ext cx="438912" cy="438912"/>
          </a:xfrm>
          <a:prstGeom prst="ellipse">
            <a:avLst/>
          </a:prstGeom>
          <a:solidFill>
            <a:srgbClr val="1C4B2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969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Engagement_Rate continuous?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values like 3.2, 14.7, 28.1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" y="1847088"/>
            <a:ext cx="466344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2029968"/>
            <a:ext cx="438912" cy="438912"/>
          </a:xfrm>
          <a:prstGeom prst="ellipse">
            <a:avLst/>
          </a:prstGeom>
          <a:solidFill>
            <a:srgbClr val="1C4B2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DV unbounded (not capped 0–1)?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311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no upper limit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" y="2779776"/>
            <a:ext cx="466344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FF7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962656"/>
            <a:ext cx="438912" cy="438912"/>
          </a:xfrm>
          <a:prstGeom prst="ellipse">
            <a:avLst/>
          </a:prstGeom>
          <a:solidFill>
            <a:srgbClr val="3D1215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962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DV a count (non-negative int)?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1638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decimals allowed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" y="3712464"/>
            <a:ext cx="4663440" cy="804672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" y="3895344"/>
            <a:ext cx="438912" cy="438912"/>
          </a:xfrm>
          <a:prstGeom prst="ellipse">
            <a:avLst/>
          </a:prstGeom>
          <a:solidFill>
            <a:srgbClr val="1C4B2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3767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normally distributed?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40965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OLS assumption satisfied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" y="4663440"/>
            <a:ext cx="4663440" cy="347472"/>
          </a:xfrm>
          <a:prstGeom prst="rect">
            <a:avLst/>
          </a:prstGeom>
          <a:solidFill>
            <a:srgbClr val="1A1A1A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46634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OLS is the correct choice for a continuous, unbounded outcome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65776" y="91440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Formula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65776" y="1243584"/>
            <a:ext cx="3877056" cy="2157984"/>
          </a:xfrm>
          <a:prstGeom prst="rect">
            <a:avLst/>
          </a:prstGeom>
          <a:solidFill>
            <a:srgbClr val="0D1117"/>
          </a:solidFill>
          <a:ln w="15240">
            <a:solidFill>
              <a:srgbClr val="58A6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65776" y="1243584"/>
            <a:ext cx="3877056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75504" y="13167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76672" y="131673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13167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88736" y="124358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q1_ols.py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smf.ols(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1773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'Engagement_Rate ~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Platform + Post_Type +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208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Topic_CTA_Positive +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12080" y="2377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Caption_Sentiment +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12080" y="2578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Influencer_Tier +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12080" y="2779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Cat_Fashion + Cat_Tech',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12080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data=df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65776" y="3493008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Predictors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38928" y="385876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3822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077456" y="38221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type (binary)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138928" y="404164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4005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Post_Type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77456" y="400507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format (binary)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138928" y="422452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0" y="4187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Topic_CTA_Positive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077456" y="41879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Call-to-action present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138928" y="440740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0" y="4370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Caption_Sentiment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077456" y="437083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138928" y="459028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0" y="45537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Influencer_Tier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077456" y="455371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vs Macro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138928" y="477316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0" y="4736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Cat_Fashion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077456" y="47365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Dummy: Fashion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138928" y="495604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4919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Cat_Tech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077456" y="491947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Dummy: Tech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Results — β Coefficient Chart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432304" y="804672"/>
            <a:ext cx="4407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Negative effect        β Coefficient        Positive effect →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24293" y="950976"/>
            <a:ext cx="9144" cy="343814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0265" y="786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" y="1005840"/>
            <a:ext cx="89611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8865" y="1110447"/>
            <a:ext cx="2810847" cy="266273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00584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94576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8865" y="1585935"/>
            <a:ext cx="2136244" cy="266273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48132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Post_Type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9973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" y="1956816"/>
            <a:ext cx="89611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32304" y="2061423"/>
            <a:ext cx="1596561" cy="266273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956816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Cat_Tech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01952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99764" y="2536911"/>
            <a:ext cx="1529101" cy="266273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432304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Influencer_Tier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69412" y="2432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" y="2907792"/>
            <a:ext cx="89611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8865" y="3012399"/>
            <a:ext cx="1236773" cy="266273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2907792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Topic_CTA_Positive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20502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64315" y="3487887"/>
            <a:ext cx="764550" cy="266273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3383280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Cat_Fashion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33963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" y="3858768"/>
            <a:ext cx="89611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8865" y="3963375"/>
            <a:ext cx="157407" cy="266273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385876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Caption_Sentiment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41136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04304" y="987552"/>
            <a:ext cx="193852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04304" y="987552"/>
            <a:ext cx="1938528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04304" y="10424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004304" y="15544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04304" y="1901952"/>
            <a:ext cx="193852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79C0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04304" y="1901952"/>
            <a:ext cx="1938528" cy="457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04304" y="19568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0.581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004304" y="24688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04304" y="2816352"/>
            <a:ext cx="1938528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004304" y="2816352"/>
            <a:ext cx="1938528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04304" y="28712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7004304" y="33832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p-val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04304" y="369417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F(7,592)=119.6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004304" y="3931920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predictors significant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23744" y="4352544"/>
            <a:ext cx="201168" cy="1645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79776" y="43342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effect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52544" y="4352544"/>
            <a:ext cx="201168" cy="16459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08576" y="43342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effect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01168" y="4663440"/>
            <a:ext cx="8741664" cy="329184"/>
          </a:xfrm>
          <a:prstGeom prst="rect">
            <a:avLst/>
          </a:prstGeom>
          <a:solidFill>
            <a:srgbClr val="1A1A1A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4663440"/>
            <a:ext cx="146304" cy="32918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4663440"/>
            <a:ext cx="848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(β=+2.50) dominates.  Beauty outperforms Fashion &amp; Tech.  Micro influencers drive higher engagement than Macro.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Binary Logistic Regression: Click-Through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280160"/>
            <a:ext cx="4169664" cy="768096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280160"/>
            <a:ext cx="402336" cy="76809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280160"/>
            <a:ext cx="402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" y="1371600"/>
            <a:ext cx="35844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Click_Through = binary (0 or 1). OLS would predict probabilities like −0.2 or 1.4 — mathematically impossible.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1168" y="2157984"/>
            <a:ext cx="4169664" cy="768096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157984"/>
            <a:ext cx="402336" cy="76809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157984"/>
            <a:ext cx="402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" y="2249424"/>
            <a:ext cx="35844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uses a sigmoid function: P(Y=1) is always bounded between 0 and 1.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1168" y="3035808"/>
            <a:ext cx="4169664" cy="768096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3035808"/>
            <a:ext cx="402336" cy="76809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3035808"/>
            <a:ext cx="402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" y="3127248"/>
            <a:ext cx="35844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Exp(B) = Odds Ratio — how many times more/less likely a click occurs per unit change.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1168" y="3913632"/>
            <a:ext cx="4169664" cy="292608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9136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smf.logit('Click_Through ~ Platform + Post_Type + Topic_CTA_Positive + Caption_Sentiment', data=df, method='bfgs').fit()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4297680"/>
            <a:ext cx="2011680" cy="530352"/>
          </a:xfrm>
          <a:prstGeom prst="rect">
            <a:avLst/>
          </a:prstGeom>
          <a:solidFill>
            <a:srgbClr val="161B22"/>
          </a:solidFill>
          <a:ln w="1524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42976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McFadden R²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322576" y="4297680"/>
            <a:ext cx="201168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22576" y="42976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796.8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914400"/>
            <a:ext cx="4370832" cy="1207008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914400"/>
            <a:ext cx="4370832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969264"/>
            <a:ext cx="4370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2.63×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4700016" y="17373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a Call-to-Action are 2.63× more likely to get a click  (p&lt;0.001)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217627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— all 4 predictors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0" y="2487168"/>
            <a:ext cx="5303520" cy="246888"/>
          </a:xfrm>
          <a:prstGeom prst="rect">
            <a:avLst/>
          </a:prstGeom>
          <a:solidFill>
            <a:srgbClr val="1A1A1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24871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55664" y="248716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Exp(B) / 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61504" y="2487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24544" y="248716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2734056"/>
            <a:ext cx="5303520" cy="27432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2734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Topic_CTA_Positive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55664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61504" y="2734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2.63× more likely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924544" y="2734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 ***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0" y="3008376"/>
            <a:ext cx="5303520" cy="27432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Post_Type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55664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61504" y="3008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1.52× more likely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924544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 *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3282696"/>
            <a:ext cx="5303520" cy="27432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3282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55664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61504" y="3282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924544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0.145 n.s.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3557016"/>
            <a:ext cx="5303520" cy="27432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26864" y="35570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Caption_Sentiment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55664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461504" y="3557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924544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0.382 n.s.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0" y="3621024"/>
            <a:ext cx="4370832" cy="1207008"/>
          </a:xfrm>
          <a:prstGeom prst="rect">
            <a:avLst/>
          </a:prstGeom>
          <a:solidFill>
            <a:srgbClr val="1A1A1A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3621024"/>
            <a:ext cx="146304" cy="12070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9744" y="3621024"/>
            <a:ext cx="404164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is the ONLY highly significant predictor of click-through.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format also significant, but Platform and Sentiment are NOT.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McFadden R² (0.054) → other unmeasured factors drive clicks.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Why Negative Binomial? The Overdispersion Problem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01168" y="877824"/>
            <a:ext cx="265176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877824"/>
            <a:ext cx="26517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9326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" y="1444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(Comments)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99232" y="877824"/>
            <a:ext cx="265176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99232" y="877824"/>
            <a:ext cx="2651760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9326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99232" y="1444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97296" y="877824"/>
            <a:ext cx="265176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877824"/>
            <a:ext cx="2651760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9326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97296" y="1444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÷ Mean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" y="1828800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requires Variance = Mean.  Ours is 41× higher → Poisson is invalid.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01168" y="2176272"/>
            <a:ext cx="4187952" cy="1042416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176272"/>
            <a:ext cx="164592" cy="1042416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6771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Assumption Violated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596896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regression assumes Var = Mean.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Comment_Count: Var(2,016) ÷ Mean(48.7) = 41.4×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extreme overdispersion — Poisson underfits.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35424" y="2176272"/>
            <a:ext cx="4407408" cy="1042416"/>
          </a:xfrm>
          <a:prstGeom prst="rect">
            <a:avLst/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5424" y="2176272"/>
            <a:ext cx="164592" cy="104241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267712"/>
            <a:ext cx="4078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is the Fix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91456" y="2596896"/>
            <a:ext cx="4078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adds dispersion parameter α to absorb extra variance.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α=1.0 confirms significant overdispersion.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is a special case of NB where α→0.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01168" y="3346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Comparison — lower is better</a:t>
            </a:r>
            <a:endParaRPr lang="en-US" sz="12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201168" y="3657600"/>
          <a:ext cx="4663440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5120640" y="3346704"/>
            <a:ext cx="3822192" cy="1719072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0640" y="3346704"/>
            <a:ext cx="3822192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0" y="3401568"/>
            <a:ext cx="3822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4,967</a:t>
            </a:r>
            <a:endParaRPr lang="en-US" sz="5200" dirty="0"/>
          </a:p>
        </p:txBody>
      </p:sp>
      <p:sp>
        <p:nvSpPr>
          <p:cNvPr id="34" name="Text 31"/>
          <p:cNvSpPr/>
          <p:nvPr/>
        </p:nvSpPr>
        <p:spPr>
          <a:xfrm>
            <a:off x="5248656" y="427939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points lower  ·  46.8% better fit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 is the clear winner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01168" y="5102352"/>
            <a:ext cx="8741664" cy="292608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0896" y="5102352"/>
            <a:ext cx="8577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smf.glm('Comment_Count ~ ...', data=df, family=NegativeBinomial(alpha=1.0)).fit()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Results — Incidence Rate Ratios (IRR)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01168" y="877824"/>
            <a:ext cx="265176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877824"/>
            <a:ext cx="265176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9326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5,634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" y="1444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(NB)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99232" y="877824"/>
            <a:ext cx="265176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99232" y="877824"/>
            <a:ext cx="2651760" cy="4572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9232" y="9326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10,601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99232" y="1444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(Poisson)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97296" y="877824"/>
            <a:ext cx="2651760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79C0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877824"/>
            <a:ext cx="2651760" cy="457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9326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97296" y="14447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Reduction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" y="182880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&gt; 1.0 = MORE comments     IRR &lt; 1.0 = FEWER comments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76366" y="2048256"/>
            <a:ext cx="9144" cy="299923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8330" y="190195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IRR=1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" y="2139696"/>
            <a:ext cx="9747504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0938" y="2228210"/>
            <a:ext cx="3404224" cy="2253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13969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30883" y="213969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80938" y="2630546"/>
            <a:ext cx="3032334" cy="2253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254203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Influencer_Tier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58993" y="25420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" y="2944368"/>
            <a:ext cx="9747504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80938" y="3032882"/>
            <a:ext cx="2288554" cy="2253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94436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Post_Type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5213" y="294436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1.80×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80938" y="3435218"/>
            <a:ext cx="1230098" cy="2253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3346704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Topic_CTA_Positive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56756" y="334670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" y="3749040"/>
            <a:ext cx="9747504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80938" y="3837554"/>
            <a:ext cx="1001242" cy="2253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" y="37490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Topic_Lifestyle+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27901" y="374904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65765" y="4239890"/>
            <a:ext cx="715173" cy="22530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415137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Cat_Tech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708565" y="415137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0.75×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1168" y="4553712"/>
            <a:ext cx="9747504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37158" y="4642226"/>
            <a:ext cx="743780" cy="225308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" y="455371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Cat_Fashion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679958" y="4553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0.74×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42032" y="4974336"/>
            <a:ext cx="201168" cy="14630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98064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&gt; 1 (more comments)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212080" y="4974336"/>
            <a:ext cx="201168" cy="14630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&lt; 1 (fewer comments)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772400" y="2139696"/>
            <a:ext cx="1170432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772400" y="21762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2.19×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772400" y="259689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volume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72400" y="3054096"/>
            <a:ext cx="1170432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772400" y="30906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2.06×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7772400" y="351129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comments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72400" y="3968496"/>
            <a:ext cx="1170432" cy="804672"/>
          </a:xfrm>
          <a:prstGeom prst="rect">
            <a:avLst/>
          </a:prstGeom>
          <a:solidFill>
            <a:srgbClr val="161B22"/>
          </a:solidFill>
          <a:ln w="19050">
            <a:solidFill>
              <a:srgbClr val="E865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772400" y="40050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0.74×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7772400" y="442569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fewer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Beauty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01168" y="4663440"/>
            <a:ext cx="8741664" cy="329184"/>
          </a:xfrm>
          <a:prstGeom prst="rect">
            <a:avLst/>
          </a:prstGeom>
          <a:solidFill>
            <a:srgbClr val="1A1A1A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1168" y="4663440"/>
            <a:ext cx="146304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" y="4663440"/>
            <a:ext cx="848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(2.19×) doubles comment volume.  Macro influencers flip direction vs Q1 — more comments, not more engagement rate.  Beauty leads on comments too.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7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371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Do Interaction Terms Improve the Model?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01168" y="914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" y="1225296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effect of a Call-to-Action on Engagement Rate depend on (a) which Platform, or (b) Influencer Tier?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1168" y="1975104"/>
            <a:ext cx="4663440" cy="786384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1975104"/>
            <a:ext cx="402336" cy="78638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975104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" y="2048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Topic_CTA_Positive × Platform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" y="23957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CTA drive more engagement on Platform 1 than Platform 0?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1168" y="2871216"/>
            <a:ext cx="4663440" cy="786384"/>
          </a:xfrm>
          <a:prstGeom prst="rect">
            <a:avLst/>
          </a:prstGeom>
          <a:solidFill>
            <a:srgbClr val="161B22"/>
          </a:solidFill>
          <a:ln w="15240">
            <a:solidFill>
              <a:srgbClr val="BC8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871216"/>
            <a:ext cx="402336" cy="78638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871216"/>
            <a:ext cx="402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" y="2944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Topic_CTA_Positive × Influencer_Tier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" y="3291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CTA work differently for Micro vs Macro influencers?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1168" y="3895344"/>
            <a:ext cx="4663440" cy="292608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3895344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ftest = model_full.compare_f_test(model_base)  →  F=0.412,  p=0.663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65776" y="914400"/>
            <a:ext cx="3877056" cy="1517904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65776" y="914400"/>
            <a:ext cx="3877056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969264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0.663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5065776" y="1901952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0.05  →  NOT significant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065776" y="2523744"/>
            <a:ext cx="3877056" cy="329184"/>
          </a:xfrm>
          <a:prstGeom prst="rect">
            <a:avLst/>
          </a:prstGeom>
          <a:solidFill>
            <a:srgbClr val="1A1A1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237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25237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71232" y="25237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84464" y="25237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ΔR²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65776" y="2852928"/>
            <a:ext cx="3877056" cy="36576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(7 preds.)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0" y="28529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71232" y="28529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84464" y="28529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65776" y="3218688"/>
            <a:ext cx="3877056" cy="36576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218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Interactions (9)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0" y="32186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71232" y="32186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0.579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84464" y="32186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+0.0006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65776" y="3364992"/>
            <a:ext cx="3877056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65776" y="3364992"/>
            <a:ext cx="146304" cy="13716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364992"/>
            <a:ext cx="3547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interaction terms improves R² by only 0.0006 — negligible.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(p=0.663) confirms this is due to chance, not a real effect.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CTA's impact on engagement does NOT vary by Platform or Tier.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7-predictor base model is sufficient.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37160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Summary — Q1, Q2 &amp; Q3 Side by Side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01168" y="822960"/>
            <a:ext cx="8741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Topic_CTA_Positive is the ONLY predictor significant across all 3 models     *** p&lt;0.001  ** p&lt;0.01  * p&lt;0.05  n.s. = not significant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97280"/>
            <a:ext cx="8686800" cy="263347"/>
          </a:xfrm>
          <a:prstGeom prst="rect">
            <a:avLst/>
          </a:prstGeom>
          <a:solidFill>
            <a:srgbClr val="1A1A1A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97280"/>
            <a:ext cx="20116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59152" y="1097280"/>
            <a:ext cx="1481328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OLS (β)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0" y="1097280"/>
            <a:ext cx="15544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Logistic (OR)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77840" y="1097280"/>
            <a:ext cx="16459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Neg Binom (IRR)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0" y="1097280"/>
            <a:ext cx="153619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1360627"/>
            <a:ext cx="2103120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360627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04288" y="1360627"/>
            <a:ext cx="1572768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360627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+2.50 ***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77056" y="1360627"/>
            <a:ext cx="1645920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360627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 n.s.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22976" y="1360627"/>
            <a:ext cx="1737360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360627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 ***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60336" y="1360627"/>
            <a:ext cx="1627632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360627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&amp; Q3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1653235"/>
            <a:ext cx="210312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165323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Post_Type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04288" y="1653235"/>
            <a:ext cx="1572768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1653235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+1.90 ***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77056" y="1653235"/>
            <a:ext cx="1645920" cy="292608"/>
          </a:xfrm>
          <a:prstGeom prst="rect">
            <a:avLst/>
          </a:prstGeom>
          <a:solidFill>
            <a:srgbClr val="2A251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1653235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*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22976" y="1653235"/>
            <a:ext cx="1737360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1653235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 ***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60336" y="1653235"/>
            <a:ext cx="1627632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1653235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" y="1945843"/>
            <a:ext cx="2103120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1945843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Topic_CTA_Positive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04288" y="1945843"/>
            <a:ext cx="1572768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59152" y="1945843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+1.10 ***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77056" y="1945843"/>
            <a:ext cx="1645920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194584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 ***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22976" y="1945843"/>
            <a:ext cx="1737360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194584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 ***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60336" y="1945843"/>
            <a:ext cx="1627632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1945843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✓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01168" y="2238451"/>
            <a:ext cx="210312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2238451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Caption_Sentiment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304288" y="2238451"/>
            <a:ext cx="1572768" cy="292608"/>
          </a:xfrm>
          <a:prstGeom prst="rect">
            <a:avLst/>
          </a:prstGeom>
          <a:solidFill>
            <a:srgbClr val="2A251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59152" y="2238451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 *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877056" y="2238451"/>
            <a:ext cx="164592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2238451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1.12 n.s.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22976" y="2238451"/>
            <a:ext cx="173736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2238451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60336" y="2238451"/>
            <a:ext cx="1627632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2238451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only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01168" y="2531059"/>
            <a:ext cx="2103120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2531059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Influencer_Tier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04288" y="2531059"/>
            <a:ext cx="1572768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59152" y="2531059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−1.36 ***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877056" y="2531059"/>
            <a:ext cx="1645920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0" y="2531059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22976" y="2531059"/>
            <a:ext cx="1737360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77840" y="2531059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2.06 ***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60336" y="2531059"/>
            <a:ext cx="1627632" cy="292608"/>
          </a:xfrm>
          <a:prstGeom prst="rect">
            <a:avLst/>
          </a:prstGeom>
          <a:solidFill>
            <a:srgbClr val="1E1A0A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0" y="2531059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↔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01168" y="2823667"/>
            <a:ext cx="210312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2823667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Topic_Lifestyle+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304288" y="2823667"/>
            <a:ext cx="1572768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59152" y="2823667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877056" y="2823667"/>
            <a:ext cx="164592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31920" y="2823667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522976" y="2823667"/>
            <a:ext cx="1737360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2823667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 ***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260336" y="2823667"/>
            <a:ext cx="1627632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0" y="2823667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only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01168" y="3116275"/>
            <a:ext cx="2103120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56032" y="3116275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Cat_Fashion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304288" y="3116275"/>
            <a:ext cx="1572768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359152" y="3116275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−0.68 ***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877056" y="3116275"/>
            <a:ext cx="1645920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31920" y="3116275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522976" y="3116275"/>
            <a:ext cx="1737360" cy="292608"/>
          </a:xfrm>
          <a:prstGeom prst="rect">
            <a:avLst/>
          </a:prstGeom>
          <a:solidFill>
            <a:srgbClr val="1020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77840" y="3116275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 **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260336" y="3116275"/>
            <a:ext cx="1627632" cy="29260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15200" y="3116275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&amp; Q3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01168" y="3408883"/>
            <a:ext cx="210312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56032" y="3408883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Cat_Tech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304288" y="3408883"/>
            <a:ext cx="1572768" cy="292608"/>
          </a:xfrm>
          <a:prstGeom prst="rect">
            <a:avLst/>
          </a:prstGeom>
          <a:solidFill>
            <a:srgbClr val="152515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359152" y="3408883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 ***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877056" y="3408883"/>
            <a:ext cx="1645920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31920" y="3408883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522976" y="3408883"/>
            <a:ext cx="1737360" cy="292608"/>
          </a:xfrm>
          <a:prstGeom prst="rect">
            <a:avLst/>
          </a:prstGeom>
          <a:solidFill>
            <a:srgbClr val="1020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77840" y="3408883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**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260336" y="3408883"/>
            <a:ext cx="1627632" cy="292608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0" y="3408883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&amp; Q3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01168" y="3749040"/>
            <a:ext cx="8741664" cy="731520"/>
          </a:xfrm>
          <a:prstGeom prst="rect">
            <a:avLst/>
          </a:prstGeom>
          <a:solidFill>
            <a:srgbClr val="1A1A1A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01168" y="3749040"/>
            <a:ext cx="146304" cy="731520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0624" y="3749040"/>
            <a:ext cx="8394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Topic_CTA_Positive significant in ALL 3 models — the most robust, actionable finding.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Post_Type also significant in all 3.  Influencer_Tier shows opposite effects on engagement rate (Q1) vs comment volume (Q3).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7589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37160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Marketing Recommendations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01168" y="859536"/>
            <a:ext cx="4315968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59536"/>
            <a:ext cx="4315968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658368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8755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15568" y="102412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Platform =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1627632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the #1 engagement driver (β=+2.50, Q1) and doubles comment volume (IRR=2.19, Q3). Allocate the majority of budget to Platform 1 content.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2432304"/>
            <a:ext cx="4023360" cy="256032"/>
          </a:xfrm>
          <a:prstGeom prst="rect">
            <a:avLst/>
          </a:prstGeom>
          <a:solidFill>
            <a:srgbClr val="21262D"/>
          </a:solidFill>
          <a:ln w="889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43230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Q1 · Q3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" y="2944368"/>
            <a:ext cx="4315968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E8651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944368"/>
            <a:ext cx="4315968" cy="54864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072384"/>
            <a:ext cx="658368" cy="54864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7238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115568" y="310896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CTA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" y="3712464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is the only predictor significant in ALL 3 models — the most consistent finding. Click-through 2.63× higher (Q2) · Comments 43% more (Q3).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4517136"/>
            <a:ext cx="4023360" cy="256032"/>
          </a:xfrm>
          <a:prstGeom prst="rect">
            <a:avLst/>
          </a:prstGeom>
          <a:solidFill>
            <a:srgbClr val="21262D"/>
          </a:solidFill>
          <a:ln w="8890">
            <a:solidFill>
              <a:srgbClr val="E865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5171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Q1 · Q2 · Q3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18304" y="859536"/>
            <a:ext cx="4315968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18304" y="859536"/>
            <a:ext cx="4315968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987552"/>
            <a:ext cx="658368" cy="5486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98755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32704" y="1024128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Tier to Your KPI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64608" y="1627632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influencers → higher engagement rate (Q1, β=−1.36 for Macro). Macro influencers → more comments (Q3, IRR=2.06). Choose tier based on campaign goal.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64608" y="2432304"/>
            <a:ext cx="4023360" cy="256032"/>
          </a:xfrm>
          <a:prstGeom prst="rect">
            <a:avLst/>
          </a:prstGeom>
          <a:solidFill>
            <a:srgbClr val="21262D"/>
          </a:solidFill>
          <a:ln w="889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43230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Q1 · Q3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18304" y="2944368"/>
            <a:ext cx="4315968" cy="19202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944368"/>
            <a:ext cx="4315968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3072384"/>
            <a:ext cx="658368" cy="5486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07238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632704" y="310896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Content Format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64608" y="3712464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Post_Type is significant in all 3 models (β=+1.90; OR=1.52; IRR=1.80). Investing in the right format consistently lifts engagement, clicks AND comments.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64608" y="4517136"/>
            <a:ext cx="4023360" cy="256032"/>
          </a:xfrm>
          <a:prstGeom prst="rect">
            <a:avLst/>
          </a:prstGeom>
          <a:solidFill>
            <a:srgbClr val="21262D"/>
          </a:solidFill>
          <a:ln w="8890">
            <a:solidFill>
              <a:srgbClr val="BC8C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5171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Q1 · Q2 · Q3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760000">
            <a:off x="-1828800" y="3840480"/>
            <a:ext cx="12801600" cy="45720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16870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19856"/>
            <a:ext cx="9144000" cy="73152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20116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" y="51206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#RealResults — What the Data Shows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37744" y="1225296"/>
            <a:ext cx="2066544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" y="1225296"/>
            <a:ext cx="2066544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335024"/>
            <a:ext cx="402336" cy="32918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3502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3350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R²=0.585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" y="1737360"/>
            <a:ext cx="188366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OLS: Platform (β=+2.50) is the top driver. All 7 predictors significant. Beauty outperforms Fashion &amp; Tech. Micro &gt; Macro for engagement.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50592" y="1225296"/>
            <a:ext cx="2066544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225296"/>
            <a:ext cx="2066544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335024"/>
            <a:ext cx="402336" cy="32918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33502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35808" y="13350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CTA=2.63×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1737360"/>
            <a:ext cx="188366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Logistic: CTA is the only key click predictor. 2.63× more likely to click. Platform and Sentiment not significant for clicks.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225296"/>
            <a:ext cx="2066544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25296"/>
            <a:ext cx="2066544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1335024"/>
            <a:ext cx="402336" cy="3291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33502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48656" y="13350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−46.8%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737360"/>
            <a:ext cx="188366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beats Poisson by 4,967 AIC points. Platform (2.19×) and Macro tier (2.06×) dominate. Beauty leads on comments too.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76288" y="1225296"/>
            <a:ext cx="2066544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76288" y="1225296"/>
            <a:ext cx="2066544" cy="457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86016" y="1335024"/>
            <a:ext cx="402336" cy="32918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133502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61504" y="13350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p=0.663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67728" y="1737360"/>
            <a:ext cx="188366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terms not significant. CTA effect is consistent across platforms and tiers. Base 7-predictor model is sufficient.</a:t>
            </a:r>
            <a:endParaRPr lang="en-US" sz="10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" y="3639312"/>
            <a:ext cx="1609344" cy="49377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975104" y="3621024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A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Marketing Analytics  ·  Team Assignment 1  · 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A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Bologna Business School, University of Bologna</a:t>
            </a:r>
            <a:endParaRPr lang="en-US" sz="11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736592"/>
            <a:ext cx="960120" cy="292608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4736592"/>
            <a:ext cx="292608" cy="292608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928" y="4736592"/>
            <a:ext cx="292608" cy="292608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0552" y="4736592"/>
            <a:ext cx="292608" cy="292608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76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CMA Assignment 1 — 2026</dc:title>
  <dc:subject>PptxGenJS Presentation</dc:subject>
  <dc:creator>BBS CMA Team</dc:creator>
  <cp:lastModifiedBy>BBS CMA Team</cp:lastModifiedBy>
  <cp:revision>1</cp:revision>
  <dcterms:created xsi:type="dcterms:W3CDTF">2026-04-03T17:28:40Z</dcterms:created>
  <dcterms:modified xsi:type="dcterms:W3CDTF">2026-04-03T17:28:40Z</dcterms:modified>
</cp:coreProperties>
</file>